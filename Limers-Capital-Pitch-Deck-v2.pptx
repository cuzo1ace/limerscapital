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914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✦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0" y="16916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-100" kern="0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Limer's Capital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0" y="2697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Caribbean DeFi.</a:t>
            </a:r>
            <a:pPr algn="ctr" indent="0" marL="0">
              <a:buNone/>
            </a:pPr>
            <a:r>
              <a:rPr lang="en-US" sz="2400" i="1" dirty="0">
                <a:solidFill>
                  <a:srgbClr val="BF81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Reimagined.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Caribbean's first DeFi education and trading platform — built on Solana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46177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Pitch Deck v2 · April 2026 · limerscapital.com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0" y="4069080"/>
            <a:ext cx="1828800" cy="0"/>
          </a:xfrm>
          <a:prstGeom prst="line">
            <a:avLst/>
          </a:prstGeom>
          <a:noFill/>
          <a:ln w="19050">
            <a:solidFill>
              <a:srgbClr val="00FFA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region locked out of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future of finance.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4023360" cy="1097280"/>
          </a:xfrm>
          <a:prstGeom prst="rect">
            <a:avLst/>
          </a:prstGeom>
          <a:solidFill>
            <a:srgbClr val="121316"/>
          </a:solidFill>
          <a:ln w="9525">
            <a:solidFill>
              <a:srgbClr val="4748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50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CARIBBEAN + LATAM POPULATION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700M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Underserved by global crypto exchanges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2286000"/>
            <a:ext cx="4023360" cy="1097280"/>
          </a:xfrm>
          <a:prstGeom prst="rect">
            <a:avLst/>
          </a:prstGeom>
          <a:solidFill>
            <a:srgbClr val="121316"/>
          </a:solidFill>
          <a:ln w="9525">
            <a:solidFill>
              <a:srgbClr val="4748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450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HAVE TOUCHED A WALLET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00600" y="27432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1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&lt; 4%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80060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Compared to ~16% global average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023360" cy="1097280"/>
          </a:xfrm>
          <a:prstGeom prst="rect">
            <a:avLst/>
          </a:prstGeom>
          <a:solidFill>
            <a:srgbClr val="121316"/>
          </a:solidFill>
          <a:ln w="9525">
            <a:solidFill>
              <a:srgbClr val="4748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685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ANNUAL CARIBBEAN REMITTANCES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CA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$20B+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4008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 ~7% average cost — billions wasted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3520440"/>
            <a:ext cx="4023360" cy="1097280"/>
          </a:xfrm>
          <a:prstGeom prst="rect">
            <a:avLst/>
          </a:prstGeom>
          <a:solidFill>
            <a:srgbClr val="121316"/>
          </a:solidFill>
          <a:ln w="9525">
            <a:solidFill>
              <a:srgbClr val="4748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685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NATIVE DEFI PLATFORMS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3977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BF81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480060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Targeting the 22 Caribbean nations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Limer's Capital · limerscapital.com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THE VISION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100-year institution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the Caribbean.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 a hackathon project. Not a quarterly product cycle. A multi-generational platform that evolves through six distinct economic eras across the next century.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4023360" cy="2194560"/>
          </a:xfrm>
          <a:prstGeom prst="rect">
            <a:avLst/>
          </a:prstGeom>
          <a:solidFill>
            <a:srgbClr val="121316"/>
          </a:solidFill>
          <a:ln w="9525">
            <a:solidFill>
              <a:srgbClr val="4748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 education-first DeFi platform with paper trading,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Solana swaps, and 22-jurisdiction regulatory mapping.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0" y="28346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5029200" y="2377440"/>
            <a:ext cx="4023360" cy="2194560"/>
          </a:xfrm>
          <a:prstGeom prst="rect">
            <a:avLst/>
          </a:prstGeom>
          <a:solidFill>
            <a:srgbClr val="121316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2126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12080" y="28803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financial infrastructure of the Caribbean 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regulated utility powering remittances, securities,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CBDC interop, and Universal Basic Ownership.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Limer's Capital · limerscapital.com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THE PRODUCT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Learn. Trade. Earn. Grow.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narrative escalator: from your first wallet to ownership of the region's financial future.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1965960" cy="1965960"/>
          </a:xfrm>
          <a:prstGeom prst="rect">
            <a:avLst/>
          </a:prstGeom>
          <a:solidFill>
            <a:srgbClr val="121316"/>
          </a:solidFill>
          <a:ln w="9525">
            <a:solidFill>
              <a:srgbClr val="4748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697480"/>
            <a:ext cx="1965960" cy="73152"/>
          </a:xfrm>
          <a:prstGeom prst="rect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26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LEARN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modules · 37 lessons · 8 quizzes. From wallets to advanced LP strategies.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2697480"/>
            <a:ext cx="1965960" cy="1965960"/>
          </a:xfrm>
          <a:prstGeom prst="rect">
            <a:avLst/>
          </a:prstGeom>
          <a:solidFill>
            <a:srgbClr val="121316"/>
          </a:solidFill>
          <a:ln w="9525">
            <a:solidFill>
              <a:srgbClr val="4748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2697480"/>
            <a:ext cx="1965960" cy="73152"/>
          </a:xfrm>
          <a:prstGeom prst="rect">
            <a:avLst/>
          </a:prstGeom>
          <a:solidFill>
            <a:srgbClr val="BF81FF"/>
          </a:solidFill>
          <a:ln w="12700">
            <a:solidFill>
              <a:srgbClr val="BF81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2926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3291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F81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TRADE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743200" y="37947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Paper trade $100K virtual. 14 Solana tokens + 30 TTSE stocks + perpetuals.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697480"/>
            <a:ext cx="1965960" cy="1965960"/>
          </a:xfrm>
          <a:prstGeom prst="rect">
            <a:avLst/>
          </a:prstGeom>
          <a:solidFill>
            <a:srgbClr val="121316"/>
          </a:solidFill>
          <a:ln w="9525">
            <a:solidFill>
              <a:srgbClr val="4748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697480"/>
            <a:ext cx="1965960" cy="73152"/>
          </a:xfrm>
          <a:prstGeom prst="rect">
            <a:avLst/>
          </a:prstGeom>
          <a:solidFill>
            <a:srgbClr val="FFCA3A"/>
          </a:solidFill>
          <a:ln w="12700">
            <a:solidFill>
              <a:srgbClr val="FFC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926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291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A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EARN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46320" y="37947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$LIMER points convert to tokens at launch. 25 badges, 10-tier XP, streaks.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2697480"/>
            <a:ext cx="1965960" cy="1965960"/>
          </a:xfrm>
          <a:prstGeom prst="rect">
            <a:avLst/>
          </a:prstGeom>
          <a:solidFill>
            <a:srgbClr val="121316"/>
          </a:solidFill>
          <a:ln w="9525">
            <a:solidFill>
              <a:srgbClr val="4748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2697480"/>
            <a:ext cx="1965960" cy="73152"/>
          </a:xfrm>
          <a:prstGeom prst="rect">
            <a:avLst/>
          </a:prstGeom>
          <a:solidFill>
            <a:srgbClr val="2D9B56"/>
          </a:solidFill>
          <a:ln w="12700">
            <a:solidFill>
              <a:srgbClr val="2D9B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2926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49440" y="3291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9B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GROW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49440" y="37947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Tokenized Caribbean RWAs. Universal Basic Ownership for every islander.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Limer's Capital · limerscapital.com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TRACTION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Production-grade.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a prototype.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2697480" cy="960120"/>
          </a:xfrm>
          <a:prstGeom prst="rect">
            <a:avLst/>
          </a:prstGeom>
          <a:solidFill>
            <a:srgbClr val="121316"/>
          </a:solidFill>
          <a:ln w="9525">
            <a:solidFill>
              <a:srgbClr val="4748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68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2331720"/>
            <a:ext cx="2697480" cy="960120"/>
          </a:xfrm>
          <a:prstGeom prst="rect">
            <a:avLst/>
          </a:prstGeom>
          <a:solidFill>
            <a:srgbClr val="121316"/>
          </a:solidFill>
          <a:ln w="9525">
            <a:solidFill>
              <a:srgbClr val="4748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468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F81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7472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 MODULES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2331720"/>
            <a:ext cx="2697480" cy="960120"/>
          </a:xfrm>
          <a:prstGeom prst="rect">
            <a:avLst/>
          </a:prstGeom>
          <a:solidFill>
            <a:srgbClr val="121316"/>
          </a:solidFill>
          <a:ln w="9525">
            <a:solidFill>
              <a:srgbClr val="4748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468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A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37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0936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2697480" cy="960120"/>
          </a:xfrm>
          <a:prstGeom prst="rect">
            <a:avLst/>
          </a:prstGeom>
          <a:solidFill>
            <a:srgbClr val="121316"/>
          </a:solidFill>
          <a:ln w="9525">
            <a:solidFill>
              <a:srgbClr val="4748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66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361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40080" y="4069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 PASSING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91840" y="3429000"/>
            <a:ext cx="2697480" cy="960120"/>
          </a:xfrm>
          <a:prstGeom prst="rect">
            <a:avLst/>
          </a:prstGeom>
          <a:solidFill>
            <a:srgbClr val="121316"/>
          </a:solidFill>
          <a:ln w="9525">
            <a:solidFill>
              <a:srgbClr val="4748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3566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F81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474720" y="4069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JURISDICTIONS MAPPED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3429000"/>
            <a:ext cx="2697480" cy="960120"/>
          </a:xfrm>
          <a:prstGeom prst="rect">
            <a:avLst/>
          </a:prstGeom>
          <a:solidFill>
            <a:srgbClr val="121316"/>
          </a:solidFill>
          <a:ln w="9525">
            <a:solidFill>
              <a:srgbClr val="4748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3566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A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14+30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309360" y="4069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 + TTSE STOCKS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 Jupiter V6 swaps · Solflare/Phantom wallet integration · On-chain profiles · PWA · i18n in 3 languages · Cloudflare Worker API proxy · Vitest + Playwright tests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Limer's Capital · limerscapital.com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COMPETITIVE POSITION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whitespace no one else sees.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743200" cy="2194560"/>
          </a:xfrm>
          <a:prstGeom prst="rect">
            <a:avLst/>
          </a:prstGeom>
          <a:solidFill>
            <a:srgbClr val="121316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14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A−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5% uniqueness across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5,400+ Colosseum projects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2377440"/>
            <a:ext cx="5303520" cy="502920"/>
          </a:xfrm>
          <a:prstGeom prst="rect">
            <a:avLst/>
          </a:prstGeom>
          <a:solidFill>
            <a:srgbClr val="121316"/>
          </a:solidFill>
          <a:ln w="6350">
            <a:solidFill>
              <a:srgbClr val="4748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2377440"/>
            <a:ext cx="54864" cy="502920"/>
          </a:xfrm>
          <a:prstGeom prst="rect">
            <a:avLst/>
          </a:prstGeom>
          <a:solidFill>
            <a:srgbClr val="BF81FF"/>
          </a:solidFill>
          <a:ln w="12700">
            <a:solidFill>
              <a:srgbClr val="BF8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4505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F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CARIBBEAN-SPECIFIC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66160" y="26334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 of 5,400+ Colosseum projects target the region. Complete whitespace.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83280" y="2944368"/>
            <a:ext cx="5303520" cy="502920"/>
          </a:xfrm>
          <a:prstGeom prst="rect">
            <a:avLst/>
          </a:prstGeom>
          <a:solidFill>
            <a:srgbClr val="121316"/>
          </a:solidFill>
          <a:ln w="6350">
            <a:solidFill>
              <a:srgbClr val="4748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2944368"/>
            <a:ext cx="54864" cy="502920"/>
          </a:xfrm>
          <a:prstGeom prst="rect">
            <a:avLst/>
          </a:prstGeom>
          <a:solidFill>
            <a:srgbClr val="BF81FF"/>
          </a:solidFill>
          <a:ln w="12700">
            <a:solidFill>
              <a:srgbClr val="BF81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3017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F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CROSS-CLUSTER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66160" y="3200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Only project bridging "Gamified Education" + "Gamified Trading".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83280" y="3511296"/>
            <a:ext cx="5303520" cy="502920"/>
          </a:xfrm>
          <a:prstGeom prst="rect">
            <a:avLst/>
          </a:prstGeom>
          <a:solidFill>
            <a:srgbClr val="121316"/>
          </a:solidFill>
          <a:ln w="6350">
            <a:solidFill>
              <a:srgbClr val="4748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3280" y="3511296"/>
            <a:ext cx="54864" cy="502920"/>
          </a:xfrm>
          <a:prstGeom prst="rect">
            <a:avLst/>
          </a:prstGeom>
          <a:solidFill>
            <a:srgbClr val="BF81FF"/>
          </a:solidFill>
          <a:ln w="12700">
            <a:solidFill>
              <a:srgbClr val="BF81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35844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F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REGULATORY MAP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66160" y="3767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22-jurisdiction VASP / CBDC / DARE Act tracker. Nothing comparable.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83280" y="4078224"/>
            <a:ext cx="5303520" cy="502920"/>
          </a:xfrm>
          <a:prstGeom prst="rect">
            <a:avLst/>
          </a:prstGeom>
          <a:solidFill>
            <a:srgbClr val="121316"/>
          </a:solidFill>
          <a:ln w="6350">
            <a:solidFill>
              <a:srgbClr val="4748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3280" y="4078224"/>
            <a:ext cx="54864" cy="502920"/>
          </a:xfrm>
          <a:prstGeom prst="rect">
            <a:avLst/>
          </a:prstGeom>
          <a:solidFill>
            <a:srgbClr val="BF81FF"/>
          </a:solidFill>
          <a:ln w="12700">
            <a:solidFill>
              <a:srgbClr val="BF81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415137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F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EDUCATION + EXECUTION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43342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Learn → Practice → Execute pipeline. Competitors do one, never all.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Limer's Capital · limerscapital.com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THE 100-YEAR FRAMEWORK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Centennial Evolution Model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Limer's as a dissipative structure (Prigogine, 1977) — analyzed across 5 disciplines: physics, economics, sociology, data science, software engineering.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2468880"/>
            <a:ext cx="1371600" cy="2011680"/>
          </a:xfrm>
          <a:prstGeom prst="rect">
            <a:avLst/>
          </a:prstGeom>
          <a:solidFill>
            <a:srgbClr val="121316"/>
          </a:solidFill>
          <a:ln w="6350">
            <a:solidFill>
              <a:srgbClr val="4748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2468880"/>
            <a:ext cx="1371600" cy="73152"/>
          </a:xfrm>
          <a:prstGeom prst="rect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97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ERA 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NUCLEATION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2026—33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47088" y="2468880"/>
            <a:ext cx="1371600" cy="2011680"/>
          </a:xfrm>
          <a:prstGeom prst="rect">
            <a:avLst/>
          </a:prstGeom>
          <a:solidFill>
            <a:srgbClr val="121316"/>
          </a:solidFill>
          <a:ln w="6350">
            <a:solidFill>
              <a:srgbClr val="4748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47088" y="2468880"/>
            <a:ext cx="1371600" cy="73152"/>
          </a:xfrm>
          <a:prstGeom prst="rect">
            <a:avLst/>
          </a:prstGeom>
          <a:solidFill>
            <a:srgbClr val="00EF99"/>
          </a:solidFill>
          <a:ln w="12700">
            <a:solidFill>
              <a:srgbClr val="00EF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38528" y="2697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E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ERA II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92808" y="30632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CRYSTALLIZE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92808" y="4023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2033—45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82696" y="2468880"/>
            <a:ext cx="1371600" cy="2011680"/>
          </a:xfrm>
          <a:prstGeom prst="rect">
            <a:avLst/>
          </a:prstGeom>
          <a:solidFill>
            <a:srgbClr val="121316"/>
          </a:solidFill>
          <a:ln w="6350">
            <a:solidFill>
              <a:srgbClr val="4748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82696" y="2468880"/>
            <a:ext cx="1371600" cy="73152"/>
          </a:xfrm>
          <a:prstGeom prst="rect">
            <a:avLst/>
          </a:prstGeom>
          <a:solidFill>
            <a:srgbClr val="FFCA3A"/>
          </a:solidFill>
          <a:ln w="12700">
            <a:solidFill>
              <a:srgbClr val="FFC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74136" y="2697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C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ERA III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28416" y="30632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DIASPORA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28416" y="4023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2045—65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18304" y="2468880"/>
            <a:ext cx="1371600" cy="2011680"/>
          </a:xfrm>
          <a:prstGeom prst="rect">
            <a:avLst/>
          </a:prstGeom>
          <a:solidFill>
            <a:srgbClr val="121316"/>
          </a:solidFill>
          <a:ln w="6350">
            <a:solidFill>
              <a:srgbClr val="4748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18304" y="2468880"/>
            <a:ext cx="1371600" cy="73152"/>
          </a:xfrm>
          <a:prstGeom prst="rect">
            <a:avLst/>
          </a:prstGeom>
          <a:solidFill>
            <a:srgbClr val="2D9B56"/>
          </a:solidFill>
          <a:ln w="12700">
            <a:solidFill>
              <a:srgbClr val="2D9B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9744" y="2697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9B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ERA IV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64024" y="30632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SOVEREIGN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64024" y="4023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2065—85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53912" y="2468880"/>
            <a:ext cx="1371600" cy="2011680"/>
          </a:xfrm>
          <a:prstGeom prst="rect">
            <a:avLst/>
          </a:prstGeom>
          <a:solidFill>
            <a:srgbClr val="121316"/>
          </a:solidFill>
          <a:ln w="6350">
            <a:solidFill>
              <a:srgbClr val="4748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53912" y="2468880"/>
            <a:ext cx="1371600" cy="73152"/>
          </a:xfrm>
          <a:prstGeom prst="rect">
            <a:avLst/>
          </a:prstGeom>
          <a:solidFill>
            <a:srgbClr val="BF81FF"/>
          </a:solidFill>
          <a:ln w="12700">
            <a:solidFill>
              <a:srgbClr val="BF81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45352" y="2697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F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ERA V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99632" y="30632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GENERATIONAL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99632" y="4023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2085—2110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589520" y="2468880"/>
            <a:ext cx="1371600" cy="2011680"/>
          </a:xfrm>
          <a:prstGeom prst="rect">
            <a:avLst/>
          </a:prstGeom>
          <a:solidFill>
            <a:srgbClr val="121316"/>
          </a:solidFill>
          <a:ln w="6350">
            <a:solidFill>
              <a:srgbClr val="4748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89520" y="2468880"/>
            <a:ext cx="1371600" cy="73152"/>
          </a:xfrm>
          <a:prstGeom prst="rect">
            <a:avLst/>
          </a:prstGeom>
          <a:solidFill>
            <a:srgbClr val="6B6C6E"/>
          </a:solidFill>
          <a:ln w="12700">
            <a:solidFill>
              <a:srgbClr val="6B6C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0" y="2697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ERA VI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635240" y="30632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POST-PLATFORM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635240" y="4023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2110—26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Limer's Capital · limerscapital.com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WE ARE HERE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Era I: Nucleation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(2026-2033)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4023360" cy="2194560"/>
          </a:xfrm>
          <a:prstGeom prst="rect">
            <a:avLst/>
          </a:prstGeom>
          <a:solidFill>
            <a:srgbClr val="121316"/>
          </a:solidFill>
          <a:ln w="9525">
            <a:solidFill>
              <a:srgbClr val="4748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NUCLEATION BARRIER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F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r* = -2γ / Δgᵥ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FF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γ</a:t>
            </a:r>
            <a:pPr indent="0" marL="0">
              <a:buNone/>
            </a:pPr>
            <a:r>
              <a:rPr lang="en-US" sz="13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= $6K/mo fixed costs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FF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Δgᵥ</a:t>
            </a:r>
            <a:pPr indent="0" marL="0">
              <a:buNone/>
            </a:pPr>
            <a:r>
              <a:rPr lang="en-US" sz="13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= $5/mo net value per user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FF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r*</a:t>
            </a:r>
            <a:pPr indent="0" marL="0">
              <a:buNone/>
            </a:pPr>
            <a:r>
              <a:rPr lang="en-US" sz="13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≈ 2,400 MAU minimum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560320"/>
            <a:ext cx="4023360" cy="2194560"/>
          </a:xfrm>
          <a:prstGeom prst="rect">
            <a:avLst/>
          </a:prstGeom>
          <a:solidFill>
            <a:srgbClr val="121316"/>
          </a:solidFill>
          <a:ln w="9525">
            <a:solidFill>
              <a:srgbClr val="4748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C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ERA I OBJECTIVES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306324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○"/>
            </a:pPr>
            <a:r>
              <a:rPr lang="en-US" sz="13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Reach 100K MAU before treasury depletes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○"/>
            </a:pPr>
            <a:r>
              <a:rPr lang="en-US" sz="13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Solve solo-founder problem in 24 months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○"/>
            </a:pPr>
            <a:r>
              <a:rPr lang="en-US" sz="13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Regulatory licenses in 3+ jurisdictions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○"/>
            </a:pPr>
            <a:r>
              <a:rPr lang="en-US" sz="13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University partnerships (UWI, UTT, UTech)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○"/>
            </a:pPr>
            <a:r>
              <a:rPr lang="en-US" sz="13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Maintain modular architecture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PROJECTED: 450K MAU · $35M ARR by 2033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Limer's Capital · limerscapital.com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ERA II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Crystallization (2033-2045)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Education platform → Caribbean financial super-app. Network effect enters superlinear regime as new jurisdictions activate bipartite diaspora corridors.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2011680" cy="1554480"/>
          </a:xfrm>
          <a:prstGeom prst="rect">
            <a:avLst/>
          </a:prstGeom>
          <a:solidFill>
            <a:srgbClr val="121316"/>
          </a:solidFill>
          <a:ln w="9525">
            <a:solidFill>
              <a:srgbClr val="4748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606040"/>
            <a:ext cx="54864" cy="1554480"/>
          </a:xfrm>
          <a:prstGeom prst="rect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7706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" y="3017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REMITTANCE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" y="34290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$18.4B Caribbean corridor at 1-2% (vs 7.1%).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87752" y="2606040"/>
            <a:ext cx="2011680" cy="1554480"/>
          </a:xfrm>
          <a:prstGeom prst="rect">
            <a:avLst/>
          </a:prstGeom>
          <a:solidFill>
            <a:srgbClr val="121316"/>
          </a:solidFill>
          <a:ln w="9525">
            <a:solidFill>
              <a:srgbClr val="4748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87752" y="2606040"/>
            <a:ext cx="54864" cy="1554480"/>
          </a:xfrm>
          <a:prstGeom prst="rect">
            <a:avLst/>
          </a:prstGeom>
          <a:solidFill>
            <a:srgbClr val="BF81FF"/>
          </a:solidFill>
          <a:ln w="12700">
            <a:solidFill>
              <a:srgbClr val="BF81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52344" y="27706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52344" y="3017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81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TOKEN RWA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52344" y="34290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TTSE stocks, real estate, bonds via T&amp;T SEC.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18304" y="2606040"/>
            <a:ext cx="2011680" cy="1554480"/>
          </a:xfrm>
          <a:prstGeom prst="rect">
            <a:avLst/>
          </a:prstGeom>
          <a:solidFill>
            <a:srgbClr val="121316"/>
          </a:solidFill>
          <a:ln w="9525">
            <a:solidFill>
              <a:srgbClr val="4748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18304" y="2606040"/>
            <a:ext cx="54864" cy="1554480"/>
          </a:xfrm>
          <a:prstGeom prst="rect">
            <a:avLst/>
          </a:prstGeom>
          <a:solidFill>
            <a:srgbClr val="FFCA3A"/>
          </a:solidFill>
          <a:ln w="12700">
            <a:solidFill>
              <a:srgbClr val="FFC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82896" y="27706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82896" y="3017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A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CBDC INTEROP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82896" y="34290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Sand Dollar, JAM-DEX, DCash bridged.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48856" y="2606040"/>
            <a:ext cx="2011680" cy="1554480"/>
          </a:xfrm>
          <a:prstGeom prst="rect">
            <a:avLst/>
          </a:prstGeom>
          <a:solidFill>
            <a:srgbClr val="121316"/>
          </a:solidFill>
          <a:ln w="9525">
            <a:solidFill>
              <a:srgbClr val="4748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48856" y="2606040"/>
            <a:ext cx="54864" cy="1554480"/>
          </a:xfrm>
          <a:prstGeom prst="rect">
            <a:avLst/>
          </a:prstGeom>
          <a:solidFill>
            <a:srgbClr val="2D9B56"/>
          </a:solidFill>
          <a:ln w="12700">
            <a:solidFill>
              <a:srgbClr val="2D9B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13448" y="27706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013448" y="3017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9B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MICRO-LEND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13448" y="34290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TTD/XCD/JMD loans collateralized by LP pools.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343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2045: 1.8M MAU · $180M ARR · 15+ jurisdictions · $900M remittance vol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Limer's Capital · limerscapital.com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THE LONG HORIZON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Diaspora Engine →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Sovereign Infrastructure.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solidFill>
            <a:srgbClr val="121316"/>
          </a:solidFill>
          <a:ln w="6350">
            <a:solidFill>
              <a:srgbClr val="4748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331720"/>
            <a:ext cx="54864" cy="502920"/>
          </a:xfrm>
          <a:prstGeom prst="rect">
            <a:avLst/>
          </a:prstGeom>
          <a:solidFill>
            <a:srgbClr val="FFCA3A"/>
          </a:solidFill>
          <a:ln w="12700">
            <a:solidFill>
              <a:srgbClr val="FFC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865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C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ERA III · 2045-2065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697480" y="23865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Diaspora Engine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58775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Limer's becomes financial rails, not a platform. 22 jurisdictions linked. Brooklyn ↔ Kingston. 5.2M MAU. $800M ARR.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907792"/>
            <a:ext cx="8229600" cy="502920"/>
          </a:xfrm>
          <a:prstGeom prst="rect">
            <a:avLst/>
          </a:prstGeom>
          <a:solidFill>
            <a:srgbClr val="121316"/>
          </a:solidFill>
          <a:ln w="6350">
            <a:solidFill>
              <a:srgbClr val="4748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07792"/>
            <a:ext cx="54864" cy="502920"/>
          </a:xfrm>
          <a:prstGeom prst="rect">
            <a:avLst/>
          </a:prstGeom>
          <a:solidFill>
            <a:srgbClr val="2D9B56"/>
          </a:solidFill>
          <a:ln w="12700">
            <a:solidFill>
              <a:srgbClr val="2D9B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9626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D9B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ERA IV · 2065-2085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97480" y="29626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Sovereign Infrastructure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16382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Caribbean governments use Limer's for CBDC distribution + securities settlement. Climate finance instruments. Regulated utility status. $1.5B ARR.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483864"/>
            <a:ext cx="8229600" cy="502920"/>
          </a:xfrm>
          <a:prstGeom prst="rect">
            <a:avLst/>
          </a:prstGeom>
          <a:solidFill>
            <a:srgbClr val="121316"/>
          </a:solidFill>
          <a:ln w="6350">
            <a:solidFill>
              <a:srgbClr val="4748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83864"/>
            <a:ext cx="54864" cy="502920"/>
          </a:xfrm>
          <a:prstGeom prst="rect">
            <a:avLst/>
          </a:prstGeom>
          <a:solidFill>
            <a:srgbClr val="BF81FF"/>
          </a:solidFill>
          <a:ln w="12700">
            <a:solidFill>
              <a:srgbClr val="BF8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387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F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ERA V · 2085-2110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97480" y="35387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Generational Continuity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73989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Third-generation users have no memory of life before Limer's. Foundation + Operating Co + DAO governance. Quasi-sovereign wealth instrument for the Caribbean diaspora. $2.2B ARR.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059936"/>
            <a:ext cx="8229600" cy="502920"/>
          </a:xfrm>
          <a:prstGeom prst="rect">
            <a:avLst/>
          </a:prstGeom>
          <a:solidFill>
            <a:srgbClr val="121316"/>
          </a:solidFill>
          <a:ln w="6350">
            <a:solidFill>
              <a:srgbClr val="4748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059936"/>
            <a:ext cx="54864" cy="502920"/>
          </a:xfrm>
          <a:prstGeom prst="rect">
            <a:avLst/>
          </a:prstGeom>
          <a:solidFill>
            <a:srgbClr val="6B6C6E"/>
          </a:solidFill>
          <a:ln w="12700">
            <a:solidFill>
              <a:srgbClr val="6B6C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1148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ERA VI · 2110-2126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97480" y="4114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Post-Platform Equilibrium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3159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40% protocol permanence (TCP/IP-style public good) · 35% institutional evolution (Caribbean JPMorgan) · 25% creative destruction. $2.8B ARR (~$800M in 2026 dollars).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Limer's Capital · limerscapital.com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THE MATH OF SURVIVAL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P(100) = 10% → 29%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371600" y="2240280"/>
            <a:ext cx="6400800" cy="914400"/>
          </a:xfrm>
          <a:prstGeom prst="rect">
            <a:avLst/>
          </a:prstGeom>
          <a:solidFill>
            <a:srgbClr val="121316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331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P(T) = e^(−λT) × (1 + αT)^β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2697480" cy="1234440"/>
          </a:xfrm>
          <a:prstGeom prst="rect">
            <a:avLst/>
          </a:prstGeom>
          <a:solidFill>
            <a:srgbClr val="121316"/>
          </a:solidFill>
          <a:ln w="9525">
            <a:solidFill>
              <a:srgbClr val="4748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337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234440" y="3410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MORTALITY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34440" y="3630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0.030</a:t>
            </a:r>
            <a:pPr indent="0" marL="0">
              <a:buNone/>
            </a:pPr>
            <a:r>
              <a:rPr lang="en-US" sz="13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pPr indent="0" marL="0">
              <a:buNone/>
            </a:pPr>
            <a:r>
              <a:rPr lang="en-US" sz="1300" b="1" dirty="0">
                <a:solidFill>
                  <a:srgbClr val="FDFB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9593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−27% via multi-sig succession,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university partnerships,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chain abstraction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19272" y="3246120"/>
            <a:ext cx="2697480" cy="1234440"/>
          </a:xfrm>
          <a:prstGeom prst="rect">
            <a:avLst/>
          </a:prstGeom>
          <a:solidFill>
            <a:srgbClr val="121316"/>
          </a:solidFill>
          <a:ln w="9525">
            <a:solidFill>
              <a:srgbClr val="4748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2152" y="3337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F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096512" y="3410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F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ANTIFRAGILITY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96512" y="3630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0.008</a:t>
            </a:r>
            <a:pPr indent="0" marL="0">
              <a:buNone/>
            </a:pPr>
            <a:r>
              <a:rPr lang="en-US" sz="13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pPr indent="0" marL="0">
              <a:buNone/>
            </a:pPr>
            <a:r>
              <a:rPr lang="en-US" sz="1300" b="1" dirty="0">
                <a:solidFill>
                  <a:srgbClr val="FDFB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02152" y="39593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+50% via volatility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harvesting treasury +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open-source protocol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81344" y="3246120"/>
            <a:ext cx="2697480" cy="1234440"/>
          </a:xfrm>
          <a:prstGeom prst="rect">
            <a:avLst/>
          </a:prstGeom>
          <a:solidFill>
            <a:srgbClr val="121316"/>
          </a:solidFill>
          <a:ln w="9525">
            <a:solidFill>
              <a:srgbClr val="4748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3337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958584" y="3410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C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GOVERNANCE QUALITY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58584" y="3630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1.20</a:t>
            </a:r>
            <a:pPr indent="0" marL="0">
              <a:buNone/>
            </a:pPr>
            <a:r>
              <a:rPr lang="en-US" sz="13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pPr indent="0" marL="0">
              <a:buNone/>
            </a:pPr>
            <a:r>
              <a:rPr lang="en-US" sz="1300" b="1" dirty="0">
                <a:solidFill>
                  <a:srgbClr val="FDFB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64224" y="39593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+25% via Protocol Charter +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Advisory Council +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Community Validators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0FF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Result: ~3× improvement in centennial survival probability.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Limer's Capital · limerscapital.com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· THE 8 INTERVENTIONS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Most cost zero dollars.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48056" y="2331720"/>
            <a:ext cx="1993392" cy="1051560"/>
          </a:xfrm>
          <a:prstGeom prst="rect">
            <a:avLst/>
          </a:prstGeom>
          <a:solidFill>
            <a:srgbClr val="121316"/>
          </a:solidFill>
          <a:ln w="6350">
            <a:solidFill>
              <a:srgbClr val="4748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2468880"/>
            <a:ext cx="347472" cy="347472"/>
          </a:xfrm>
          <a:prstGeom prst="ellipse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E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96696" y="2496312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85216" y="283464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Squads Multi-Sig + Shamir Succession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85216" y="313639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 −0.003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32888" y="2331720"/>
            <a:ext cx="1993392" cy="1051560"/>
          </a:xfrm>
          <a:prstGeom prst="rect">
            <a:avLst/>
          </a:prstGeom>
          <a:solidFill>
            <a:srgbClr val="121316"/>
          </a:solidFill>
          <a:ln w="6350">
            <a:solidFill>
              <a:srgbClr val="4748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70048" y="2468880"/>
            <a:ext cx="347472" cy="347472"/>
          </a:xfrm>
          <a:prstGeom prst="ellipse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E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81528" y="2496312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70048" y="283464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Operations Documentation Sprint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70048" y="313639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 −0.001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17720" y="2331720"/>
            <a:ext cx="1993392" cy="1051560"/>
          </a:xfrm>
          <a:prstGeom prst="rect">
            <a:avLst/>
          </a:prstGeom>
          <a:solidFill>
            <a:srgbClr val="121316"/>
          </a:solidFill>
          <a:ln w="6350">
            <a:solidFill>
              <a:srgbClr val="4748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468880"/>
            <a:ext cx="347472" cy="347472"/>
          </a:xfrm>
          <a:prstGeom prst="ellipse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E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66360" y="2496312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83464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Cut Critical Radius (lower γ)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313639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 −0.003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02552" y="2331720"/>
            <a:ext cx="1993392" cy="1051560"/>
          </a:xfrm>
          <a:prstGeom prst="rect">
            <a:avLst/>
          </a:prstGeom>
          <a:solidFill>
            <a:srgbClr val="121316"/>
          </a:solidFill>
          <a:ln w="6350">
            <a:solidFill>
              <a:srgbClr val="4748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39712" y="2468880"/>
            <a:ext cx="347472" cy="347472"/>
          </a:xfrm>
          <a:prstGeom prst="ellipse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9712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E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51192" y="2496312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39712" y="283464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Caribbean University Partnerships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39712" y="313639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 −0.002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48056" y="3520440"/>
            <a:ext cx="1993392" cy="1051560"/>
          </a:xfrm>
          <a:prstGeom prst="rect">
            <a:avLst/>
          </a:prstGeom>
          <a:solidFill>
            <a:srgbClr val="121316"/>
          </a:solidFill>
          <a:ln w="6350">
            <a:solidFill>
              <a:srgbClr val="4748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5216" y="3657600"/>
            <a:ext cx="347472" cy="347472"/>
          </a:xfrm>
          <a:prstGeom prst="ellipse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5216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E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96696" y="3685032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85216" y="40233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Chain Abstraction Layer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5216" y="432511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 −0.001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532888" y="3520440"/>
            <a:ext cx="1993392" cy="1051560"/>
          </a:xfrm>
          <a:prstGeom prst="rect">
            <a:avLst/>
          </a:prstGeom>
          <a:solidFill>
            <a:srgbClr val="121316"/>
          </a:solidFill>
          <a:ln w="6350">
            <a:solidFill>
              <a:srgbClr val="4748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70048" y="3657600"/>
            <a:ext cx="347472" cy="347472"/>
          </a:xfrm>
          <a:prstGeom prst="ellipse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70048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E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081528" y="3685032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C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$5-50K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670048" y="40233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Second Jurisdiction (Bermuda/Cayman)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670048" y="432511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 −0.001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17720" y="3520440"/>
            <a:ext cx="1993392" cy="1051560"/>
          </a:xfrm>
          <a:prstGeom prst="rect">
            <a:avLst/>
          </a:prstGeom>
          <a:solidFill>
            <a:srgbClr val="121316"/>
          </a:solidFill>
          <a:ln w="6350">
            <a:solidFill>
              <a:srgbClr val="4748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3657600"/>
            <a:ext cx="347472" cy="347472"/>
          </a:xfrm>
          <a:prstGeom prst="ellipse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E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166360" y="3685032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C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7.5M tokens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54880" y="40233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Antifragile Treasury (vol harvest)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54880" y="432511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 +0.002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702552" y="3520440"/>
            <a:ext cx="1993392" cy="1051560"/>
          </a:xfrm>
          <a:prstGeom prst="rect">
            <a:avLst/>
          </a:prstGeom>
          <a:solidFill>
            <a:srgbClr val="121316"/>
          </a:solidFill>
          <a:ln w="6350">
            <a:solidFill>
              <a:srgbClr val="47484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39712" y="3657600"/>
            <a:ext cx="347472" cy="347472"/>
          </a:xfrm>
          <a:prstGeom prst="ellipse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39712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E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251192" y="3685032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839712" y="40233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Open-Source Core Protocol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839712" y="432511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 +0.002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Limer's Capital · limerscapital.com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· THE MISSION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Tokenizing the Caribbean's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real-world assets.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Securities · Real estate · Bonds · Climate insurance — on-chain, regulated, accessible to every islander and every diaspora member.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697480" cy="1783080"/>
          </a:xfrm>
          <a:prstGeom prst="rect">
            <a:avLst/>
          </a:prstGeom>
          <a:solidFill>
            <a:srgbClr val="121316"/>
          </a:solidFill>
          <a:ln w="9525">
            <a:solidFill>
              <a:srgbClr val="4748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743200"/>
            <a:ext cx="2697480" cy="73152"/>
          </a:xfrm>
          <a:prstGeom prst="rect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 · 2026-2028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TTSE Tokenization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Trinidad &amp; Tobago Stock Exchange equities wrapped on-chain. 30 stocks, 5 indices. Wam fiat bridge.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19272" y="2743200"/>
            <a:ext cx="2697480" cy="1783080"/>
          </a:xfrm>
          <a:prstGeom prst="rect">
            <a:avLst/>
          </a:prstGeom>
          <a:solidFill>
            <a:srgbClr val="121316"/>
          </a:solidFill>
          <a:ln w="9525">
            <a:solidFill>
              <a:srgbClr val="4748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9272" y="2743200"/>
            <a:ext cx="2697480" cy="73152"/>
          </a:xfrm>
          <a:prstGeom prst="rect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2152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 · 2028-2032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02152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Caribbean Securities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02152" y="3794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Jamaica + Barbados + ECCS unified. Cross-border tokenized bond market. CBDC settlement integration.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81344" y="2743200"/>
            <a:ext cx="2697480" cy="1783080"/>
          </a:xfrm>
          <a:prstGeom prst="rect">
            <a:avLst/>
          </a:prstGeom>
          <a:solidFill>
            <a:srgbClr val="121316"/>
          </a:solidFill>
          <a:ln w="9525">
            <a:solidFill>
              <a:srgbClr val="4748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1344" y="2743200"/>
            <a:ext cx="2697480" cy="73152"/>
          </a:xfrm>
          <a:prstGeom prst="rect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 · 2032+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64224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 Estate + Climate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64224" y="3794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Fractional Caribbean real estate. Climate catastrophe bonds. Insurance instruments for hurricane resilience.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Limer's Capital · limerscapital.com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· UBO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Universal Basic Ownership.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 equity for founders. Equity for users. The Caribbean diaspora as shareholders in their region's financial future.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4023360" cy="1737360"/>
          </a:xfrm>
          <a:prstGeom prst="rect">
            <a:avLst/>
          </a:prstGeom>
          <a:solidFill>
            <a:srgbClr val="121316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517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 / 50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57200" y="3611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 SUPPLY SPLIT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886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500M to community via airdrops, learn-to-earn,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liquidity mining and referrals. 500M to operations,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treasury, team — all vested and transparent.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468880"/>
            <a:ext cx="4023360" cy="1737360"/>
          </a:xfrm>
          <a:prstGeom prst="rect">
            <a:avLst/>
          </a:prstGeom>
          <a:solidFill>
            <a:srgbClr val="121316"/>
          </a:solidFill>
          <a:ln w="12700">
            <a:solidFill>
              <a:srgbClr val="BF8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6517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F81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50%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4663440" y="3611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TO STAKERS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3886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 yield in USDC + SOL — never in inflated $LIMER.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Irrevocably encoded in the Protocol Charter.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entity holds &gt;25% voting power.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"The Caribbean diaspora has $20B in remittances flowing home each year. UBO turns those flows into ownership stakes — not just cash transfers."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Limer's Capital · limerscapital.com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· TOKENOMICS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$LIMER · 1B supply · 7 streams.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Spot Trading Fees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2414016"/>
            <a:ext cx="4572000" cy="146304"/>
          </a:xfrm>
          <a:prstGeom prst="rect">
            <a:avLst/>
          </a:prstGeom>
          <a:solidFill>
            <a:srgbClr val="121316"/>
          </a:solidFill>
          <a:ln w="6350">
            <a:solidFill>
              <a:srgbClr val="4748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2414016"/>
            <a:ext cx="4572000" cy="146304"/>
          </a:xfrm>
          <a:prstGeom prst="rect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69480" y="233172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4261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Perpetuals Fees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0" y="2724912"/>
            <a:ext cx="4572000" cy="146304"/>
          </a:xfrm>
          <a:prstGeom prst="rect">
            <a:avLst/>
          </a:prstGeom>
          <a:solidFill>
            <a:srgbClr val="121316"/>
          </a:solidFill>
          <a:ln w="6350">
            <a:solidFill>
              <a:srgbClr val="4748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2724912"/>
            <a:ext cx="3810000" cy="146304"/>
          </a:xfrm>
          <a:prstGeom prst="rect">
            <a:avLst/>
          </a:prstGeom>
          <a:solidFill>
            <a:srgbClr val="BF81FF"/>
          </a:solidFill>
          <a:ln w="12700">
            <a:solidFill>
              <a:srgbClr val="BF8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69480" y="264261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9535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TTSE Listing Fees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0" y="3035808"/>
            <a:ext cx="4572000" cy="146304"/>
          </a:xfrm>
          <a:prstGeom prst="rect">
            <a:avLst/>
          </a:prstGeom>
          <a:solidFill>
            <a:srgbClr val="121316"/>
          </a:solidFill>
          <a:ln w="6350">
            <a:solidFill>
              <a:srgbClr val="4748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0" y="3035808"/>
            <a:ext cx="2286000" cy="146304"/>
          </a:xfrm>
          <a:prstGeom prst="rect">
            <a:avLst/>
          </a:prstGeom>
          <a:solidFill>
            <a:srgbClr val="FFCA3A"/>
          </a:solidFill>
          <a:ln w="12700">
            <a:solidFill>
              <a:srgbClr val="FFC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295351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26440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Premium (Wam + ViFi)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60320" y="3346704"/>
            <a:ext cx="4572000" cy="146304"/>
          </a:xfrm>
          <a:prstGeom prst="rect">
            <a:avLst/>
          </a:prstGeom>
          <a:solidFill>
            <a:srgbClr val="121316"/>
          </a:solidFill>
          <a:ln w="6350">
            <a:solidFill>
              <a:srgbClr val="4748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0" y="3346704"/>
            <a:ext cx="1524000" cy="146304"/>
          </a:xfrm>
          <a:prstGeom prst="rect">
            <a:avLst/>
          </a:prstGeom>
          <a:solidFill>
            <a:srgbClr val="2D9B56"/>
          </a:solidFill>
          <a:ln w="12700">
            <a:solidFill>
              <a:srgbClr val="2D9B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9480" y="326440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57530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Institutional API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60320" y="3657600"/>
            <a:ext cx="4572000" cy="146304"/>
          </a:xfrm>
          <a:prstGeom prst="rect">
            <a:avLst/>
          </a:prstGeom>
          <a:solidFill>
            <a:srgbClr val="121316"/>
          </a:solidFill>
          <a:ln w="6350">
            <a:solidFill>
              <a:srgbClr val="4748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0" y="3657600"/>
            <a:ext cx="1524000" cy="146304"/>
          </a:xfrm>
          <a:prstGeom prst="rect">
            <a:avLst/>
          </a:prstGeom>
          <a:solidFill>
            <a:srgbClr val="00EF99"/>
          </a:solidFill>
          <a:ln w="12700">
            <a:solidFill>
              <a:srgbClr val="00EF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69480" y="357530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8862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Referrals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60320" y="3968496"/>
            <a:ext cx="4572000" cy="146304"/>
          </a:xfrm>
          <a:prstGeom prst="rect">
            <a:avLst/>
          </a:prstGeom>
          <a:solidFill>
            <a:srgbClr val="121316"/>
          </a:solidFill>
          <a:ln w="6350">
            <a:solidFill>
              <a:srgbClr val="4748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0" y="3968496"/>
            <a:ext cx="762000" cy="146304"/>
          </a:xfrm>
          <a:prstGeom prst="rect">
            <a:avLst/>
          </a:prstGeom>
          <a:solidFill>
            <a:srgbClr val="BF81FF"/>
          </a:solidFill>
          <a:ln w="12700">
            <a:solidFill>
              <a:srgbClr val="BF81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69480" y="388620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19709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Bridge Conversions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60320" y="4279392"/>
            <a:ext cx="4572000" cy="146304"/>
          </a:xfrm>
          <a:prstGeom prst="rect">
            <a:avLst/>
          </a:prstGeom>
          <a:solidFill>
            <a:srgbClr val="121316"/>
          </a:solidFill>
          <a:ln w="6350">
            <a:solidFill>
              <a:srgbClr val="4748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0" y="4279392"/>
            <a:ext cx="762000" cy="146304"/>
          </a:xfrm>
          <a:prstGeom prst="rect">
            <a:avLst/>
          </a:prstGeom>
          <a:solidFill>
            <a:srgbClr val="FFCA3A"/>
          </a:solidFill>
          <a:ln w="12700">
            <a:solidFill>
              <a:srgbClr val="FFCA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9480" y="419709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FF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1B token supply · 50% community / 50% protocol · revenue distributed in USDC + SOL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Limer's Capital · limerscapital.com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18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· 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hackathon to centennial institution.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697480" cy="2286000"/>
          </a:xfrm>
          <a:prstGeom prst="rect">
            <a:avLst/>
          </a:prstGeom>
          <a:solidFill>
            <a:srgbClr val="121316"/>
          </a:solidFill>
          <a:ln w="9525">
            <a:solidFill>
              <a:srgbClr val="4748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86000"/>
            <a:ext cx="2697480" cy="73152"/>
          </a:xfrm>
          <a:prstGeom prst="rect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871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· 2026-2027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Nucleation Sprint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FF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Live at limerscapital.com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FF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19 pages · 361 tests · 22 jurisdictions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FF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Bulk-style landing + Disclaimer + Squeeze CTA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100K MAU + token launch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19272" y="2286000"/>
            <a:ext cx="2697480" cy="2286000"/>
          </a:xfrm>
          <a:prstGeom prst="rect">
            <a:avLst/>
          </a:prstGeom>
          <a:solidFill>
            <a:srgbClr val="121316"/>
          </a:solidFill>
          <a:ln w="9525">
            <a:solidFill>
              <a:srgbClr val="4748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2286000"/>
            <a:ext cx="2697480" cy="73152"/>
          </a:xfrm>
          <a:prstGeom prst="rect">
            <a:avLst/>
          </a:prstGeom>
          <a:solidFill>
            <a:srgbClr val="BF81FF"/>
          </a:solidFill>
          <a:ln w="12700">
            <a:solidFill>
              <a:srgbClr val="BF8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24871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F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2028-2033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02152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Crystallization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02152" y="3246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Multi-sig + Advisory Council in place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University partnerships (UWI, UTT, UTech)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Bermuda DABA registration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Wam VASP integration → real TTD on-ramp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81344" y="2286000"/>
            <a:ext cx="2697480" cy="2286000"/>
          </a:xfrm>
          <a:prstGeom prst="rect">
            <a:avLst/>
          </a:prstGeom>
          <a:solidFill>
            <a:srgbClr val="121316"/>
          </a:solidFill>
          <a:ln w="9525">
            <a:solidFill>
              <a:srgbClr val="4748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81344" y="2286000"/>
            <a:ext cx="2697480" cy="73152"/>
          </a:xfrm>
          <a:prstGeom prst="rect">
            <a:avLst/>
          </a:prstGeom>
          <a:solidFill>
            <a:srgbClr val="FFCA3A"/>
          </a:solidFill>
          <a:ln w="12700">
            <a:solidFill>
              <a:srgbClr val="FFC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64224" y="24871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C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2034-2045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64224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Caribbean Super-App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64224" y="3246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Remittance corridor live (1.5% vs 7.1%)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TTSE RWA tokenization legal wrapper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CBDC interoperability across 5 jurisdictions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1.8M MAU · $180M ARR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Limer's Capital · limerscapital.com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18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· THE ASK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we need.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we offer.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4023360" cy="2240280"/>
          </a:xfrm>
          <a:prstGeom prst="rect">
            <a:avLst/>
          </a:prstGeom>
          <a:solidFill>
            <a:srgbClr val="121316"/>
          </a:solidFill>
          <a:ln w="9525">
            <a:solidFill>
              <a:srgbClr val="4748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C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FF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Capital: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Pre-seed runway through Era I nucleation — focused on critical-mass + multi-jurisdictional licensing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FF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Advisors: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Caribbean fintech, Solana ecosystem, regional academic, diaspora community leader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FF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Partners: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TTSEC LOI, UWI/UTT curriculum partnership, Wam VASP integration, second jurisdiction (Bermuda DABA)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2331720"/>
            <a:ext cx="4023360" cy="2240280"/>
          </a:xfrm>
          <a:prstGeom prst="rect">
            <a:avLst/>
          </a:prstGeom>
          <a:solidFill>
            <a:srgbClr val="121316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OFFER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283464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Production-ready platform: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19 pages, 361 tests, real Jupiter swaps.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Whitespace position: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 of 5,400+ Colosseum projects target this region.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100-year vision: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mathematical survival model + 8 antifragility interventions.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Universal Basic Ownership: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users own the platform, encoded in an irrevocable charter.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Limer's Capital · limerscapital.com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18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40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✦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128016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 Nations.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0" y="201168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F81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Platform.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0" y="274320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CA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 Years.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limerscapital.com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0" y="4251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on Solana ◎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0" y="45720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@limerscapital · X · Instagram · TikTok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Limer's Capital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Limer's Capital — Pitch Deck v2 (April 2026)</dc:title>
  <dc:subject>Caribbean DeFi on Solana — Centennial Vision + Current State</dc:subject>
  <dc:creator>Limer's Capital</dc:creator>
  <cp:lastModifiedBy>Limer's Capital</cp:lastModifiedBy>
  <cp:revision>1</cp:revision>
  <dcterms:created xsi:type="dcterms:W3CDTF">2026-04-10T03:28:57Z</dcterms:created>
  <dcterms:modified xsi:type="dcterms:W3CDTF">2026-04-10T03:28:57Z</dcterms:modified>
</cp:coreProperties>
</file>