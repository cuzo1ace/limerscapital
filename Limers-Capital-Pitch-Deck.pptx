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FFA3"/>
              </a:solidFill>
              <a:effectLst/>
            </c:spPr>
          </c:dPt>
          <c:dPt>
            <c:idx val="1"/>
            <c:bubble3D val="0"/>
            <c:spPr>
              <a:solidFill>
                <a:srgbClr val="9945F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Community Pool</c:v>
                </c:pt>
                <c:pt idx="1">
                  <c:v>Platform Operations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0FFA3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9945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00FF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LIMER'S CAPITAL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Caribbean's Gateway to DeFi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Education-First  |  Paper Trading  |  Real DeFi  |  Token Rewards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1920240" cy="411480"/>
          </a:xfrm>
          <a:prstGeom prst="rect">
            <a:avLst/>
          </a:prstGeom>
          <a:solidFill>
            <a:srgbClr val="9945FF">
              <a:alpha val="20000"/>
            </a:srgbClr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49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Solana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4206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 |  Season 1 —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million people. Zero platforms.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713232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30M+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0" y="155448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 residents with smartphones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 brokerage access or financial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680960" cy="713232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23774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underbanked or unbanked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finance infrastructure excludes the Caribbean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7680960" cy="713232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004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32004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crypto education platforms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learn-to-earn, no paper trading, no DeFi onboarding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7680960" cy="713232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2336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$5B+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60320" y="40233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remittance market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5-10% to fees on every cross-border transfer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The Problem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FF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Education-first DeFi. Built for the Caribbean. Powered by Solana.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874520" cy="256032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1874520" cy="54864"/>
          </a:xfrm>
          <a:prstGeom prst="rect">
            <a:avLst/>
          </a:prstGeom>
          <a:solidFill>
            <a:srgbClr val="00C8B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modules, 37 lessons, quizzes. Gamified education from basics to advanced DeFi.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06040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34640" y="1645920"/>
            <a:ext cx="1874520" cy="256032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34640" y="1645920"/>
            <a:ext cx="1874520" cy="54864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920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71800" y="28346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Season-based trading competitions. Leaderboard ranking. Competition-grade math.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37760" y="1645920"/>
            <a:ext cx="1874520" cy="256032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645920"/>
            <a:ext cx="1874520" cy="54864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920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28346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trading to real DeFi. Jupiter swaps. Meteora LP. Perpetual futures.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040880" y="1645920"/>
            <a:ext cx="1874520" cy="256032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40880" y="1645920"/>
            <a:ext cx="187452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1920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28346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$LIMER tokens. Revenue sharing in USDC + SOL. Dynamic NFTs. Premium access.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The Solution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C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840480" cy="3474720"/>
          </a:xfrm>
          <a:prstGeom prst="ellipse">
            <a:avLst/>
          </a:prstGeom>
          <a:solidFill>
            <a:srgbClr val="FFCA3A">
              <a:alpha val="10000"/>
            </a:srgbClr>
          </a:solidFill>
          <a:ln w="19050">
            <a:solidFill>
              <a:srgbClr val="FFC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828800"/>
            <a:ext cx="2560320" cy="2377440"/>
          </a:xfrm>
          <a:prstGeom prst="ellipse">
            <a:avLst/>
          </a:prstGeom>
          <a:solidFill>
            <a:srgbClr val="00FFA3">
              <a:alpha val="10000"/>
            </a:srgbClr>
          </a:solidFill>
          <a:ln w="19050">
            <a:solidFill>
              <a:srgbClr val="00F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286000"/>
            <a:ext cx="1463040" cy="1371600"/>
          </a:xfrm>
          <a:prstGeom prst="ellipse">
            <a:avLst/>
          </a:prstGeom>
          <a:solidFill>
            <a:srgbClr val="9945FF">
              <a:alpha val="15000"/>
            </a:srgbClr>
          </a:solidFill>
          <a:ln w="19050">
            <a:solidFill>
              <a:srgbClr val="994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2788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 $500M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 $2.5B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3657600" cy="9601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3716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$2.5B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 fintech + crypto education + DeFi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514600"/>
            <a:ext cx="3657600" cy="9601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5146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$500M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Addressable Market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users interested in crypto investing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657600"/>
            <a:ext cx="3657600" cy="9601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6576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36576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Obtainable Market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target: 100K active users x $500 avg value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Market Opportunity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FF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user journey from zero knowledge to on-chain DeFi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1874520" cy="22860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11680"/>
            <a:ext cx="1874520" cy="36576"/>
          </a:xfrm>
          <a:prstGeom prst="rect">
            <a:avLst/>
          </a:prstGeom>
          <a:solidFill>
            <a:srgbClr val="00C8B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1600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modules, 37 lessons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quizzes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difficulty tiers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+ badge rewards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2900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2011680"/>
            <a:ext cx="1874520" cy="22860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2011680"/>
            <a:ext cx="1874520" cy="36576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2194560"/>
            <a:ext cx="1600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Season-based cups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leaderboards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scoring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dNFT prizes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3212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011680"/>
            <a:ext cx="1874520" cy="22860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2011680"/>
            <a:ext cx="1874520" cy="36576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194560"/>
            <a:ext cx="1600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spot trading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Perpetual futures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Squeeze (LP)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Jupiter V6 swaps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3524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40880" y="2011680"/>
            <a:ext cx="1874520" cy="22860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2011680"/>
            <a:ext cx="1874520" cy="36576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2194560"/>
            <a:ext cx="1600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$LIMER airdrop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sharing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unlocks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NFTs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88720" y="4572000"/>
            <a:ext cx="6858000" cy="0"/>
          </a:xfrm>
          <a:prstGeom prst="line">
            <a:avLst/>
          </a:prstGeom>
          <a:noFill/>
          <a:ln w="19050">
            <a:solidFill>
              <a:srgbClr val="00FFA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How It Works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B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8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606040" cy="109728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109728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Pages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with dashboard, learn, trade, portfolio, community, and more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20440" y="1097280"/>
            <a:ext cx="2606040" cy="109728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1097280"/>
            <a:ext cx="54864" cy="1097280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03320" y="1508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+ perpetual futures with competition-grade liquidation math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06040" cy="109728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097280"/>
            <a:ext cx="54864" cy="109728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Squeeze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508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LP opportunity analyzer scoring real Meteora DLMM pools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377440"/>
            <a:ext cx="2606040" cy="109728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377440"/>
            <a:ext cx="54864" cy="1097280"/>
          </a:xfrm>
          <a:prstGeom prst="rect">
            <a:avLst/>
          </a:prstGeom>
          <a:solidFill>
            <a:srgbClr val="00C8B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Jupiter V6 Swaps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on-chain token swaps across all Solana DEXes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20440" y="2377440"/>
            <a:ext cx="2606040" cy="109728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1" name="Shape 19"/>
          <p:cNvSpPr/>
          <p:nvPr/>
        </p:nvSpPr>
        <p:spPr>
          <a:xfrm>
            <a:off x="3520440" y="2377440"/>
            <a:ext cx="54864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TTSE Stocks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0332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Caribbean stocks from the Trinidad &amp; Tobago Stock Exchange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377440"/>
            <a:ext cx="2606040" cy="109728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377440"/>
            <a:ext cx="54864" cy="1097280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10-tier XP system, 25 badges, LP points, streak shields, multipliers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657600"/>
            <a:ext cx="2606040" cy="109728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657600"/>
            <a:ext cx="54864" cy="109728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Languages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069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English, Spanish, French — serving the full Caribbean linguistic landscape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20440" y="3657600"/>
            <a:ext cx="2606040" cy="109728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33" name="Shape 31"/>
          <p:cNvSpPr/>
          <p:nvPr/>
        </p:nvSpPr>
        <p:spPr>
          <a:xfrm>
            <a:off x="3520440" y="3657600"/>
            <a:ext cx="54864" cy="109728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4" name="Text 32"/>
          <p:cNvSpPr/>
          <p:nvPr/>
        </p:nvSpPr>
        <p:spPr>
          <a:xfrm>
            <a:off x="370332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Competitions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03320" y="4069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Season-based cups with leaderboards, scoring engine, dNFT prizes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9360" y="3657600"/>
            <a:ext cx="2606040" cy="109728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3657600"/>
            <a:ext cx="54864" cy="1097280"/>
          </a:xfrm>
          <a:prstGeom prst="rect">
            <a:avLst/>
          </a:prstGeom>
          <a:solidFill>
            <a:srgbClr val="00C8B4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Profiles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0" y="4069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program: badges, modules, trades as on-chain bitmaps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Product Overview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ocean  —  no platform combines all pillars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4630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96012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3716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71800" y="1371600"/>
            <a:ext cx="105156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 Trading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0" y="1371600"/>
            <a:ext cx="82296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DeFi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0058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Gamification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1371600"/>
            <a:ext cx="10058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0" y="1371600"/>
            <a:ext cx="96012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3716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Caribbean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818120" y="1371600"/>
            <a:ext cx="7772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13716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1828800"/>
            <a:ext cx="1463040" cy="457200"/>
          </a:xfrm>
          <a:prstGeom prst="rect">
            <a:avLst/>
          </a:prstGeom>
          <a:solidFill>
            <a:srgbClr val="0D3D2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0" y="1828800"/>
            <a:ext cx="960120" cy="457200"/>
          </a:xfrm>
          <a:prstGeom prst="rect">
            <a:avLst/>
          </a:prstGeom>
          <a:solidFill>
            <a:srgbClr val="0D3D2B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71800" y="1828800"/>
            <a:ext cx="1051560" cy="457200"/>
          </a:xfrm>
          <a:prstGeom prst="rect">
            <a:avLst/>
          </a:prstGeom>
          <a:solidFill>
            <a:srgbClr val="0D3D2B"/>
          </a:solidFill>
          <a:ln/>
        </p:spPr>
      </p:sp>
      <p:sp>
        <p:nvSpPr>
          <p:cNvPr id="26" name="Text 24"/>
          <p:cNvSpPr/>
          <p:nvPr/>
        </p:nvSpPr>
        <p:spPr>
          <a:xfrm>
            <a:off x="297180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23360" y="1828800"/>
            <a:ext cx="822960" cy="457200"/>
          </a:xfrm>
          <a:prstGeom prst="rect">
            <a:avLst/>
          </a:prstGeom>
          <a:solidFill>
            <a:srgbClr val="0D3D2B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1005840" cy="457200"/>
          </a:xfrm>
          <a:prstGeom prst="rect">
            <a:avLst/>
          </a:prstGeom>
          <a:solidFill>
            <a:srgbClr val="0D3D2B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1828800"/>
            <a:ext cx="1005840" cy="457200"/>
          </a:xfrm>
          <a:prstGeom prst="rect">
            <a:avLst/>
          </a:prstGeom>
          <a:solidFill>
            <a:srgbClr val="0D3D2B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1828800"/>
            <a:ext cx="960120" cy="457200"/>
          </a:xfrm>
          <a:prstGeom prst="rect">
            <a:avLst/>
          </a:prstGeom>
          <a:solidFill>
            <a:srgbClr val="0D3D2B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818120" y="1828800"/>
            <a:ext cx="777240" cy="457200"/>
          </a:xfrm>
          <a:prstGeom prst="rect">
            <a:avLst/>
          </a:prstGeom>
          <a:solidFill>
            <a:srgbClr val="0D3D2B"/>
          </a:solidFill>
          <a:ln/>
        </p:spPr>
      </p:sp>
      <p:sp>
        <p:nvSpPr>
          <p:cNvPr id="36" name="Text 34"/>
          <p:cNvSpPr/>
          <p:nvPr/>
        </p:nvSpPr>
        <p:spPr>
          <a:xfrm>
            <a:off x="7818120" y="1828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2286000"/>
            <a:ext cx="14630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Pump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11680" y="2286000"/>
            <a:ext cx="96012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40" name="Text 38"/>
          <p:cNvSpPr/>
          <p:nvPr/>
        </p:nvSpPr>
        <p:spPr>
          <a:xfrm>
            <a:off x="2011680" y="2286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971800" y="2286000"/>
            <a:ext cx="105156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42" name="Text 40"/>
          <p:cNvSpPr/>
          <p:nvPr/>
        </p:nvSpPr>
        <p:spPr>
          <a:xfrm>
            <a:off x="2971800" y="22860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23360" y="2286000"/>
            <a:ext cx="82296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0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2286000"/>
            <a:ext cx="10058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52160" y="2286000"/>
            <a:ext cx="10058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48" name="Text 46"/>
          <p:cNvSpPr/>
          <p:nvPr/>
        </p:nvSpPr>
        <p:spPr>
          <a:xfrm>
            <a:off x="5852160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58000" y="2286000"/>
            <a:ext cx="96012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0" y="2286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18120" y="2286000"/>
            <a:ext cx="7772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52" name="Text 50"/>
          <p:cNvSpPr/>
          <p:nvPr/>
        </p:nvSpPr>
        <p:spPr>
          <a:xfrm>
            <a:off x="7818120" y="22860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" y="2743200"/>
            <a:ext cx="146304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11680" y="2743200"/>
            <a:ext cx="96012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56" name="Text 54"/>
          <p:cNvSpPr/>
          <p:nvPr/>
        </p:nvSpPr>
        <p:spPr>
          <a:xfrm>
            <a:off x="2011680" y="27432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971800" y="2743200"/>
            <a:ext cx="105156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58" name="Text 56"/>
          <p:cNvSpPr/>
          <p:nvPr/>
        </p:nvSpPr>
        <p:spPr>
          <a:xfrm>
            <a:off x="2971800" y="2743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023360" y="2743200"/>
            <a:ext cx="82296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60" name="Text 58"/>
          <p:cNvSpPr/>
          <p:nvPr/>
        </p:nvSpPr>
        <p:spPr>
          <a:xfrm>
            <a:off x="4023360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46320" y="2743200"/>
            <a:ext cx="100584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62" name="Text 60"/>
          <p:cNvSpPr/>
          <p:nvPr/>
        </p:nvSpPr>
        <p:spPr>
          <a:xfrm>
            <a:off x="484632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852160" y="2743200"/>
            <a:ext cx="100584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64" name="Text 62"/>
          <p:cNvSpPr/>
          <p:nvPr/>
        </p:nvSpPr>
        <p:spPr>
          <a:xfrm>
            <a:off x="585216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58000" y="2743200"/>
            <a:ext cx="96012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66" name="Text 64"/>
          <p:cNvSpPr/>
          <p:nvPr/>
        </p:nvSpPr>
        <p:spPr>
          <a:xfrm>
            <a:off x="6858000" y="27432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818120" y="2743200"/>
            <a:ext cx="77724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68" name="Text 66"/>
          <p:cNvSpPr/>
          <p:nvPr/>
        </p:nvSpPr>
        <p:spPr>
          <a:xfrm>
            <a:off x="7818120" y="2743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48640" y="3200400"/>
            <a:ext cx="14630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70" name="Text 68"/>
          <p:cNvSpPr/>
          <p:nvPr/>
        </p:nvSpPr>
        <p:spPr>
          <a:xfrm>
            <a:off x="54864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BitDegree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011680" y="3200400"/>
            <a:ext cx="96012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72" name="Text 70"/>
          <p:cNvSpPr/>
          <p:nvPr/>
        </p:nvSpPr>
        <p:spPr>
          <a:xfrm>
            <a:off x="2011680" y="3200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971800" y="3200400"/>
            <a:ext cx="105156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74" name="Text 72"/>
          <p:cNvSpPr/>
          <p:nvPr/>
        </p:nvSpPr>
        <p:spPr>
          <a:xfrm>
            <a:off x="2971800" y="3200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023360" y="3200400"/>
            <a:ext cx="82296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76" name="Text 74"/>
          <p:cNvSpPr/>
          <p:nvPr/>
        </p:nvSpPr>
        <p:spPr>
          <a:xfrm>
            <a:off x="4023360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846320" y="3200400"/>
            <a:ext cx="10058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78" name="Text 76"/>
          <p:cNvSpPr/>
          <p:nvPr/>
        </p:nvSpPr>
        <p:spPr>
          <a:xfrm>
            <a:off x="4846320" y="3200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852160" y="3200400"/>
            <a:ext cx="10058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80" name="Text 78"/>
          <p:cNvSpPr/>
          <p:nvPr/>
        </p:nvSpPr>
        <p:spPr>
          <a:xfrm>
            <a:off x="5852160" y="3200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858000" y="3200400"/>
            <a:ext cx="96012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82" name="Text 80"/>
          <p:cNvSpPr/>
          <p:nvPr/>
        </p:nvSpPr>
        <p:spPr>
          <a:xfrm>
            <a:off x="6858000" y="3200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818120" y="3200400"/>
            <a:ext cx="7772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84" name="Text 82"/>
          <p:cNvSpPr/>
          <p:nvPr/>
        </p:nvSpPr>
        <p:spPr>
          <a:xfrm>
            <a:off x="7818120" y="3200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48640" y="3657600"/>
            <a:ext cx="146304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86" name="Text 84"/>
          <p:cNvSpPr/>
          <p:nvPr/>
        </p:nvSpPr>
        <p:spPr>
          <a:xfrm>
            <a:off x="54864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Backpack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011680" y="3657600"/>
            <a:ext cx="96012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88" name="Text 86"/>
          <p:cNvSpPr/>
          <p:nvPr/>
        </p:nvSpPr>
        <p:spPr>
          <a:xfrm>
            <a:off x="2011680" y="36576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971800" y="3657600"/>
            <a:ext cx="105156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90" name="Text 88"/>
          <p:cNvSpPr/>
          <p:nvPr/>
        </p:nvSpPr>
        <p:spPr>
          <a:xfrm>
            <a:off x="297180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023360" y="3657600"/>
            <a:ext cx="82296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92" name="Text 90"/>
          <p:cNvSpPr/>
          <p:nvPr/>
        </p:nvSpPr>
        <p:spPr>
          <a:xfrm>
            <a:off x="4023360" y="3657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846320" y="3657600"/>
            <a:ext cx="100584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94" name="Text 92"/>
          <p:cNvSpPr/>
          <p:nvPr/>
        </p:nvSpPr>
        <p:spPr>
          <a:xfrm>
            <a:off x="484632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852160" y="3657600"/>
            <a:ext cx="100584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96" name="Text 94"/>
          <p:cNvSpPr/>
          <p:nvPr/>
        </p:nvSpPr>
        <p:spPr>
          <a:xfrm>
            <a:off x="585216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Seasonal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858000" y="3657600"/>
            <a:ext cx="96012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98" name="Text 96"/>
          <p:cNvSpPr/>
          <p:nvPr/>
        </p:nvSpPr>
        <p:spPr>
          <a:xfrm>
            <a:off x="6858000" y="36576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818120" y="3657600"/>
            <a:ext cx="77724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00" name="Text 98"/>
          <p:cNvSpPr/>
          <p:nvPr/>
        </p:nvSpPr>
        <p:spPr>
          <a:xfrm>
            <a:off x="7818120" y="36576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48640" y="4114800"/>
            <a:ext cx="14630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102" name="Text 100"/>
          <p:cNvSpPr/>
          <p:nvPr/>
        </p:nvSpPr>
        <p:spPr>
          <a:xfrm>
            <a:off x="54864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011680" y="4114800"/>
            <a:ext cx="96012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104" name="Text 102"/>
          <p:cNvSpPr/>
          <p:nvPr/>
        </p:nvSpPr>
        <p:spPr>
          <a:xfrm>
            <a:off x="2011680" y="4114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971800" y="4114800"/>
            <a:ext cx="105156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106" name="Text 104"/>
          <p:cNvSpPr/>
          <p:nvPr/>
        </p:nvSpPr>
        <p:spPr>
          <a:xfrm>
            <a:off x="2971800" y="4114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023360" y="4114800"/>
            <a:ext cx="82296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108" name="Text 106"/>
          <p:cNvSpPr/>
          <p:nvPr/>
        </p:nvSpPr>
        <p:spPr>
          <a:xfrm>
            <a:off x="4023360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846320" y="4114800"/>
            <a:ext cx="10058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110" name="Text 108"/>
          <p:cNvSpPr/>
          <p:nvPr/>
        </p:nvSpPr>
        <p:spPr>
          <a:xfrm>
            <a:off x="484632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852160" y="4114800"/>
            <a:ext cx="10058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112" name="Text 110"/>
          <p:cNvSpPr/>
          <p:nvPr/>
        </p:nvSpPr>
        <p:spPr>
          <a:xfrm>
            <a:off x="585216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858000" y="4114800"/>
            <a:ext cx="96012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114" name="Text 112"/>
          <p:cNvSpPr/>
          <p:nvPr/>
        </p:nvSpPr>
        <p:spPr>
          <a:xfrm>
            <a:off x="6858000" y="4114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818120" y="4114800"/>
            <a:ext cx="777240" cy="4572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116" name="Text 114"/>
          <p:cNvSpPr/>
          <p:nvPr/>
        </p:nvSpPr>
        <p:spPr>
          <a:xfrm>
            <a:off x="7818120" y="4114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00FFA3">
              <a:alpha val="10000"/>
            </a:srgbClr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platforms combine education + trading + gamification + Caribbean focus on Solana. This is a new category.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Competitive Landscape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B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8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840480" cy="105156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840480" cy="36576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Blockchain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program for on-chain user profiles, badge bitmaps (u32), module tracking (u8), PDA-based storage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105156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097280"/>
            <a:ext cx="3840480" cy="36576"/>
          </a:xfrm>
          <a:prstGeom prst="rect">
            <a:avLst/>
          </a:prstGeom>
          <a:solidFill>
            <a:srgbClr val="00C8B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page SPA, Zustand state management, React Query for async data, Framer Motion animations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3840480" cy="105156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331720"/>
            <a:ext cx="3840480" cy="36576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Jupiter V6 + Meteora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on-chain swaps via Jupiter aggregator. Meteora DLMM pool analysis for Agent Squeeze LP scoring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331720"/>
            <a:ext cx="3840480" cy="105156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2331720"/>
            <a:ext cx="3840480" cy="36576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743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API proxy for quiz validation, Meteora data, DeFiLlama yields. Server-side answer storage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3840480" cy="105156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566160"/>
            <a:ext cx="3840480" cy="36576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Standard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Solflare + Phantom via @solana/wallet-standard. Auto-profile init on connect. Devnet/mainnet toggle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566160"/>
            <a:ext cx="3840480" cy="105156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3566160"/>
            <a:ext cx="3840480" cy="36576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 Automated Tests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suite: perp engine, gamification, tokenomics, education, trading, on-chain types, competition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114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Program:  </a:t>
            </a:r>
            <a:pPr algn="ctr" indent="0" marL="0">
              <a:buNone/>
            </a:pPr>
            <a:r>
              <a:rPr lang="en-US" sz="9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HuCCEkDvYdm1EMs3EH9wzLYi53aVkE7orkGXma8azhFk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Technology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FF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$LIMER TOKENOMICS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188720"/>
            <a:ext cx="3931920" cy="7315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6" name="Shape 3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 platform fees distributed in USDC + SOL to token holders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54880" y="2057400"/>
            <a:ext cx="3931920" cy="7315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057400"/>
            <a:ext cx="54864" cy="731520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Points &gt; Airdrop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Limer Point maps 1:1 to $LIMER allocation. More activity = more tokens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54880" y="2926080"/>
            <a:ext cx="3931920" cy="7315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4" name="Shape 11"/>
          <p:cNvSpPr/>
          <p:nvPr/>
        </p:nvSpPr>
        <p:spPr>
          <a:xfrm>
            <a:off x="4754880" y="2926080"/>
            <a:ext cx="54864" cy="73152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NFTs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Yield-bearing dNFTs evolve with your trading stats. On-chain trophies that earn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54880" y="3794760"/>
            <a:ext cx="3931920" cy="7315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8" name="Shape 15"/>
          <p:cNvSpPr/>
          <p:nvPr/>
        </p:nvSpPr>
        <p:spPr>
          <a:xfrm>
            <a:off x="4754880" y="3794760"/>
            <a:ext cx="54864" cy="731520"/>
          </a:xfrm>
          <a:prstGeom prst="rect">
            <a:avLst/>
          </a:prstGeom>
          <a:solidFill>
            <a:srgbClr val="00C8B4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Tier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Token-gated access: Wam integration, ViFi yield streams, pro analytics, Agent Squeeze extended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Tokenomics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C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745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Rust-portable test suite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34640" y="1188720"/>
            <a:ext cx="18745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3464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Built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286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delivered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18745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Modules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lessons, 8 quizzes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40880" y="1188720"/>
            <a:ext cx="18745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325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Badges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2286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10-tier XP system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3017520"/>
            <a:ext cx="18745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3152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Tokens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Tradeable on paper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34640" y="3017520"/>
            <a:ext cx="18745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34640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283464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TTSE Stocks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114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 equity access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0" y="3017520"/>
            <a:ext cx="18745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93776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114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ES / FR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040880" y="3017520"/>
            <a:ext cx="18745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04088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Ready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4114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 Trading Cup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Traction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PARTNERSHIPS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658368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51560"/>
            <a:ext cx="54864" cy="658368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1124712"/>
            <a:ext cx="1371600" cy="256032"/>
          </a:xfrm>
          <a:prstGeom prst="rect">
            <a:avLst/>
          </a:prstGeom>
          <a:solidFill>
            <a:srgbClr val="00FFA3">
              <a:alpha val="15000"/>
            </a:srgbClr>
          </a:solidFill>
          <a:ln w="6350">
            <a:solidFill>
              <a:srgbClr val="00F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124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PARTNER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0515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Fiat On-Ramp (VASP)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Caribbean VASP providing TTD/USD to crypto on-ramping. Licensed, regulated, and trusted by Caribbean institutions.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7680960" cy="658368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828800"/>
            <a:ext cx="54864" cy="658368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1901952"/>
            <a:ext cx="1371600" cy="256032"/>
          </a:xfrm>
          <a:prstGeom prst="rect">
            <a:avLst/>
          </a:prstGeom>
          <a:solidFill>
            <a:srgbClr val="9945FF">
              <a:alpha val="15000"/>
            </a:srgbClr>
          </a:solidFill>
          <a:ln w="6350">
            <a:solidFill>
              <a:srgbClr val="994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 PARTNER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005840" y="18288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Solflare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18288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Wallet Partner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Solana wallet with 2% $LIMER token allocation for Solflare Wallet Boost program. Deep integration via wallet-standard.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7680960" cy="658368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606040"/>
            <a:ext cx="54864" cy="658368"/>
          </a:xfrm>
          <a:prstGeom prst="rect">
            <a:avLst/>
          </a:prstGeom>
          <a:solidFill>
            <a:srgbClr val="00C8B4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679192"/>
            <a:ext cx="1371600" cy="256032"/>
          </a:xfrm>
          <a:prstGeom prst="rect">
            <a:avLst/>
          </a:prstGeom>
          <a:solidFill>
            <a:srgbClr val="00C8B4">
              <a:alpha val="15000"/>
            </a:srgbClr>
          </a:solidFill>
          <a:ln w="6350">
            <a:solidFill>
              <a:srgbClr val="00C8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679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 LAYER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005840" y="26060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Jupiter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26060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 Aggregation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 API integration for real on-chain token swaps across all Solana DEXes. Best execution routing.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383280"/>
            <a:ext cx="7680960" cy="658368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383280"/>
            <a:ext cx="54864" cy="658368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0" y="3456432"/>
            <a:ext cx="1371600" cy="256032"/>
          </a:xfrm>
          <a:prstGeom prst="rect">
            <a:avLst/>
          </a:prstGeom>
          <a:solidFill>
            <a:srgbClr val="FFCA3A">
              <a:alpha val="15000"/>
            </a:srgbClr>
          </a:solidFill>
          <a:ln w="6350">
            <a:solidFill>
              <a:srgbClr val="FFC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456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LAYER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005840" y="33832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Meteora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86000" y="33832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Infrastructure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DLMM pool data for Agent Squeeze analyzer. Real-time TVL, volume, fees, and APR for LP recommendations.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160520"/>
            <a:ext cx="7680960" cy="658368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160520"/>
            <a:ext cx="54864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0" y="4233672"/>
            <a:ext cx="1371600" cy="256032"/>
          </a:xfrm>
          <a:prstGeom prst="rect">
            <a:avLst/>
          </a:prstGeom>
          <a:solidFill>
            <a:srgbClr val="FF6B6B">
              <a:alpha val="15000"/>
            </a:srgbClr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4233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ECOSYSTEM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005840" y="41605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Colosseum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286000" y="41605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Ecosystem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within the Colosseum hackathon framework. Access to Solana ecosystem mentorship and community.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Partnerships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FF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840480" cy="11887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840480" cy="36576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Fees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0.3% spot / 0.1% perps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on every trade — split 50/50 community and platform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11887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097280"/>
            <a:ext cx="3840480" cy="36576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Subscriptions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/ Annual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Token-gated premium tier with advanced tools and integrations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3840480" cy="11887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468880"/>
            <a:ext cx="3840480" cy="36576"/>
          </a:xfrm>
          <a:prstGeom prst="rect">
            <a:avLst/>
          </a:prstGeom>
          <a:solidFill>
            <a:srgbClr val="00C8B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Commission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Performance-based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LP fees generated through Agent Squeeze recommendations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468880"/>
            <a:ext cx="3840480" cy="118872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2468880"/>
            <a:ext cx="3840480" cy="36576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Fees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application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926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 businesses pay to list on the platform marketplace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023360"/>
            <a:ext cx="3840480" cy="640080"/>
          </a:xfrm>
          <a:prstGeom prst="rect">
            <a:avLst/>
          </a:prstGeom>
          <a:solidFill>
            <a:srgbClr val="00FFA3">
              <a:alpha val="1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4023360"/>
            <a:ext cx="3840480" cy="640080"/>
          </a:xfrm>
          <a:prstGeom prst="rect">
            <a:avLst/>
          </a:prstGeom>
          <a:solidFill>
            <a:srgbClr val="9945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Community Pool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Platform Operations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Business Model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C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858000" cy="0"/>
          </a:xfrm>
          <a:prstGeom prst="line">
            <a:avLst/>
          </a:prstGeom>
          <a:noFill/>
          <a:ln w="25400">
            <a:solidFill>
              <a:srgbClr val="8B8B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078992"/>
            <a:ext cx="219456" cy="219456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1188720" cy="256032"/>
          </a:xfrm>
          <a:prstGeom prst="rect">
            <a:avLst/>
          </a:prstGeom>
          <a:solidFill>
            <a:srgbClr val="00FFA3">
              <a:alpha val="20000"/>
            </a:srgbClr>
          </a:solidFill>
          <a:ln w="6350">
            <a:solidFill>
              <a:srgbClr val="00F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1554480" cy="22860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40280"/>
            <a:ext cx="1280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platform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trading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integration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Jupiter swaps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82112" y="1078992"/>
            <a:ext cx="219456" cy="219456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1737360"/>
            <a:ext cx="1188720" cy="256032"/>
          </a:xfrm>
          <a:prstGeom prst="rect">
            <a:avLst/>
          </a:prstGeom>
          <a:solidFill>
            <a:srgbClr val="FFCA3A">
              <a:alpha val="20000"/>
            </a:srgbClr>
          </a:solidFill>
          <a:ln w="6350">
            <a:solidFill>
              <a:srgbClr val="FFC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51760" y="2148840"/>
            <a:ext cx="1554480" cy="22860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2240280"/>
            <a:ext cx="1280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competition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Squeeze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profiles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 test suite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1 launch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02352" y="1078992"/>
            <a:ext cx="219456" cy="219456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1188720" cy="256032"/>
          </a:xfrm>
          <a:prstGeom prst="rect">
            <a:avLst/>
          </a:prstGeom>
          <a:solidFill>
            <a:srgbClr val="9945FF">
              <a:alpha val="20000"/>
            </a:srgbClr>
          </a:solidFill>
          <a:ln w="6350">
            <a:solidFill>
              <a:srgbClr val="994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0" y="2148840"/>
            <a:ext cx="1554480" cy="22860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240280"/>
            <a:ext cx="1280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Wam fiat on-ramp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$LIMER TGE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dNFT minting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expansion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22592" y="1078992"/>
            <a:ext cx="219456" cy="219456"/>
          </a:xfrm>
          <a:prstGeom prst="ellipse">
            <a:avLst/>
          </a:prstGeom>
          <a:solidFill>
            <a:srgbClr val="00C8B4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1737360"/>
            <a:ext cx="1188720" cy="256032"/>
          </a:xfrm>
          <a:prstGeom prst="rect">
            <a:avLst/>
          </a:prstGeom>
          <a:solidFill>
            <a:srgbClr val="00C8B4">
              <a:alpha val="20000"/>
            </a:srgbClr>
          </a:solidFill>
          <a:ln w="6350">
            <a:solidFill>
              <a:srgbClr val="00C8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492240" y="2148840"/>
            <a:ext cx="1554480" cy="22860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2240280"/>
            <a:ext cx="1280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brokerage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TTSE live trading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APIs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 Robinhood</a:t>
            </a:r>
            <a:endParaRPr lang="en-US" sz="8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85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 users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Limer's Capital  |  Roadmap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FF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FFA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9945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Caribbean's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Robinhood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million people with smartphones but no brokerage account.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take them from zero crypto knowledge to on-chain DeFi.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Caribbean, by the Caribbean.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  &gt;  Competence  &gt;  Competition  &gt;  Real Trading  &gt;  Token Economy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FF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MOVEMENT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1: Caribbean Trading Cup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April 7 — May 5, 2026  |  $100K Paper Balance  |  dNFT Prizes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2194560" cy="82296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limerscapital.com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2560320"/>
            <a:ext cx="2194560" cy="82296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Fiat On-Ramp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wam.money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560320"/>
            <a:ext cx="2194560" cy="82296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solflare.com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solidFill>
            <a:srgbClr val="14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Program:  </a:t>
            </a:r>
            <a:pPr algn="ctr" indent="0" marL="0">
              <a:buNone/>
            </a:pPr>
            <a:r>
              <a:rPr lang="en-US" sz="900" b="1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HuCCEkDvYdm1EMs3EH9wzLYi53aVkE7orkGXma8azhFk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00FF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LIMER'S CAPITAL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Limer's Capital — Investor Pitch Deck</dc:title>
  <dc:subject>PptxGenJS Presentation</dc:subject>
  <dc:creator>Limer's Capital</dc:creator>
  <cp:lastModifiedBy>Limer's Capital</cp:lastModifiedBy>
  <cp:revision>1</cp:revision>
  <dcterms:created xsi:type="dcterms:W3CDTF">2026-04-01T15:27:33Z</dcterms:created>
  <dcterms:modified xsi:type="dcterms:W3CDTF">2026-04-01T15:27:33Z</dcterms:modified>
</cp:coreProperties>
</file>